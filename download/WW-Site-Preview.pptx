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714375" y="-857250"/>
            <a:ext cx="4286250" cy="428625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143625" y="2643188"/>
            <a:ext cx="3571875" cy="3571875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00438" y="2428875"/>
            <a:ext cx="2143125" cy="2143125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57672" y="331756"/>
            <a:ext cx="1028544" cy="208026"/>
          </a:xfrm>
          <a:prstGeom prst="roundRect">
            <a:avLst>
              <a:gd name="adj" fmla="val 9157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80532" y="342900"/>
            <a:ext cx="98282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PRÉVIA DO SITE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149293" y="1807369"/>
            <a:ext cx="2845414" cy="8583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6750"/>
              </a:lnSpc>
              <a:buNone/>
            </a:pPr>
            <a:r>
              <a:rPr lang="en-US" sz="6750" b="1" spc="-225" kern="0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W-W</a:t>
            </a:r>
            <a:endParaRPr lang="en-US" sz="6750" dirty="0"/>
          </a:p>
        </p:txBody>
      </p:sp>
      <p:sp>
        <p:nvSpPr>
          <p:cNvPr id="8" name="Text 6"/>
          <p:cNvSpPr/>
          <p:nvPr/>
        </p:nvSpPr>
        <p:spPr>
          <a:xfrm>
            <a:off x="3498429" y="2693194"/>
            <a:ext cx="2147141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spc="113" kern="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World of 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144" y="3121819"/>
            <a:ext cx="2195712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Plataforma Global de Empregos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730015" y="3939778"/>
            <a:ext cx="1135856" cy="85725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33612" y="4086225"/>
            <a:ext cx="728662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933612" y="4500563"/>
            <a:ext cx="7286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Países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15890" y="3939778"/>
            <a:ext cx="1135856" cy="85725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19487" y="4086225"/>
            <a:ext cx="728663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3219487" y="4500563"/>
            <a:ext cx="7286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Idiomas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01765" y="3939778"/>
            <a:ext cx="1135856" cy="85725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74184" y="4086225"/>
            <a:ext cx="791019" cy="386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200+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4505362" y="4500563"/>
            <a:ext cx="7286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Páginas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87640" y="3939778"/>
            <a:ext cx="1826344" cy="85725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18775" y="4086225"/>
            <a:ext cx="1564075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SEO Avançado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7750" y="-714375"/>
            <a:ext cx="3571875" cy="3571875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485342"/>
            <a:ext cx="2400300" cy="185738"/>
          </a:xfrm>
          <a:prstGeom prst="roundRect">
            <a:avLst>
              <a:gd name="adj" fmla="val 10256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485342"/>
            <a:ext cx="24003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813954"/>
            <a:ext cx="2520315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Página Inicial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57200" y="2166789"/>
            <a:ext cx="252031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Desktop — 1440px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595414"/>
            <a:ext cx="2400300" cy="1240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18"/>
              </a:lnSpc>
              <a:spcAft>
                <a:spcPts val="900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⌕ Hero com busca global</a:t>
            </a:r>
            <a:endParaRPr lang="en-US" sz="1013" dirty="0"/>
          </a:p>
          <a:p>
            <a:pPr algn="l" marL="342900" indent="-342900">
              <a:lnSpc>
                <a:spcPts val="1418"/>
              </a:lnSpc>
              <a:spcAft>
                <a:spcPts val="900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▦ Grid de 20 países com bandeiras</a:t>
            </a:r>
            <a:endParaRPr lang="en-US" sz="1013" dirty="0"/>
          </a:p>
          <a:p>
            <a:pPr algn="l" marL="342900" indent="-342900">
              <a:lnSpc>
                <a:spcPts val="1418"/>
              </a:lnSpc>
              <a:spcAft>
                <a:spcPts val="900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▣ Navegação por setores</a:t>
            </a:r>
            <a:endParaRPr lang="en-US" sz="1013" dirty="0"/>
          </a:p>
          <a:p>
            <a:pPr algn="l" marL="342900" indent="-342900">
              <a:lnSpc>
                <a:spcPts val="1418"/>
              </a:lnSpc>
              <a:spcAft>
                <a:spcPts val="900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❄ Design responsivo premium</a:t>
            </a:r>
            <a:endParaRPr lang="en-US" sz="1013" dirty="0"/>
          </a:p>
        </p:txBody>
      </p:sp>
      <p:pic>
        <p:nvPicPr>
          <p:cNvPr id="8" name="Image 0" descr="/tmp/h2p-fit-1785453506469-pd923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850" y="910828"/>
            <a:ext cx="5314950" cy="3321844"/>
          </a:xfrm>
          <a:prstGeom prst="rect">
            <a:avLst/>
          </a:prstGeom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7750" y="-714375"/>
            <a:ext cx="3571875" cy="3571875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305409"/>
            <a:ext cx="2400300" cy="185738"/>
          </a:xfrm>
          <a:prstGeom prst="roundRect">
            <a:avLst>
              <a:gd name="adj" fmla="val 10256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305409"/>
            <a:ext cx="24003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GLOBAL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634021"/>
            <a:ext cx="2520315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Seção de Países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57200" y="1986855"/>
            <a:ext cx="252031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Navegação global por país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415480"/>
            <a:ext cx="2400300" cy="1622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18"/>
              </a:lnSpc>
              <a:spcAft>
                <a:spcPts val="900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⚑ 20 países com bandeiras nativas</a:t>
            </a:r>
            <a:endParaRPr lang="en-US" sz="1013" dirty="0"/>
          </a:p>
          <a:p>
            <a:pPr algn="l" marL="342900" indent="-342900">
              <a:lnSpc>
                <a:spcPts val="1418"/>
              </a:lnSpc>
              <a:spcAft>
                <a:spcPts val="900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▦ Contagem de vagas por país</a:t>
            </a:r>
            <a:endParaRPr lang="en-US" sz="1013" dirty="0"/>
          </a:p>
          <a:p>
            <a:pPr algn="l" marL="342900" indent="-342900">
              <a:lnSpc>
                <a:spcPts val="1418"/>
              </a:lnSpc>
              <a:spcAft>
                <a:spcPts val="900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⌘ Redirecionamento por /código-do-país</a:t>
            </a:r>
            <a:endParaRPr lang="en-US" sz="1013" dirty="0"/>
          </a:p>
          <a:p>
            <a:pPr algn="l" marL="342900" indent="-342900">
              <a:lnSpc>
                <a:spcPts val="1418"/>
              </a:lnSpc>
              <a:spcAft>
                <a:spcPts val="900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⚖ Zero favorecimento — 100% igualitário</a:t>
            </a:r>
            <a:endParaRPr lang="en-US" sz="1013" dirty="0"/>
          </a:p>
        </p:txBody>
      </p:sp>
      <p:pic>
        <p:nvPicPr>
          <p:cNvPr id="8" name="Image 0" descr="/tmp/h2p-fit-1785453506660-hpng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850" y="910828"/>
            <a:ext cx="5314950" cy="3321844"/>
          </a:xfrm>
          <a:prstGeom prst="rect">
            <a:avLst/>
          </a:prstGeom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7750" y="-714375"/>
            <a:ext cx="3571875" cy="3571875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384231"/>
            <a:ext cx="300038" cy="208026"/>
          </a:xfrm>
          <a:prstGeom prst="roundRect">
            <a:avLst>
              <a:gd name="adj" fmla="val 9157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395375"/>
            <a:ext cx="3000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131" y="1359657"/>
            <a:ext cx="3631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25" dirty="0">
                <a:solidFill>
                  <a:srgbClr val="E8ECF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🇮🇳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57200" y="1759707"/>
            <a:ext cx="3792474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Índia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457200" y="2112541"/>
            <a:ext cx="252031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Página de Vagas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541166"/>
            <a:ext cx="2400300" cy="1431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18"/>
              </a:lnSpc>
              <a:spcAft>
                <a:spcPts val="900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▭ 8 vagas por setor</a:t>
            </a:r>
            <a:endParaRPr lang="en-US" sz="1013" dirty="0"/>
          </a:p>
          <a:p>
            <a:pPr algn="l" marL="342900" indent="-342900">
              <a:lnSpc>
                <a:spcPts val="1418"/>
              </a:lnSpc>
              <a:spcAft>
                <a:spcPts val="900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▥ Empresas reais indianas</a:t>
            </a:r>
            <a:endParaRPr lang="en-US" sz="1013" dirty="0"/>
          </a:p>
          <a:p>
            <a:pPr algn="l" marL="342900" indent="-342900">
              <a:lnSpc>
                <a:spcPts val="1418"/>
              </a:lnSpc>
              <a:spcAft>
                <a:spcPts val="900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◯ SEO localizado em Hindi</a:t>
            </a:r>
            <a:endParaRPr lang="en-US" sz="1013" dirty="0"/>
          </a:p>
          <a:p>
            <a:pPr algn="l" marL="342900" indent="-342900">
              <a:lnSpc>
                <a:spcPts val="1418"/>
              </a:lnSpc>
              <a:spcAft>
                <a:spcPts val="900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✦ JSON-LD JobPosting para Google Jobs</a:t>
            </a:r>
            <a:endParaRPr lang="en-US" sz="1013" dirty="0"/>
          </a:p>
        </p:txBody>
      </p:sp>
      <p:pic>
        <p:nvPicPr>
          <p:cNvPr id="9" name="Image 0" descr="/tmp/h2p-fit-1785453506843-eiyz6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850" y="910828"/>
            <a:ext cx="5314950" cy="3321844"/>
          </a:xfrm>
          <a:prstGeom prst="rect">
            <a:avLst/>
          </a:prstGeom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-857250"/>
            <a:ext cx="3571875" cy="357187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214938" y="3357563"/>
            <a:ext cx="2500313" cy="2500313"/>
          </a:xfrm>
          <a:prstGeom prst="ellipse">
            <a:avLst/>
          </a:prstGeom>
          <a:solidFill>
            <a:srgbClr val="10B981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1014" y="1064883"/>
            <a:ext cx="360085" cy="208026"/>
          </a:xfrm>
          <a:prstGeom prst="roundRect">
            <a:avLst>
              <a:gd name="adj" fmla="val 9157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076027"/>
            <a:ext cx="33341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433215"/>
            <a:ext cx="234315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925" dirty="0">
                <a:solidFill>
                  <a:srgbClr val="E8ECF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🇺🇸</a:t>
            </a:r>
            <a:endParaRPr lang="en-US" sz="2925" dirty="0"/>
          </a:p>
        </p:txBody>
      </p:sp>
      <p:sp>
        <p:nvSpPr>
          <p:cNvPr id="7" name="Text 5"/>
          <p:cNvSpPr/>
          <p:nvPr/>
        </p:nvSpPr>
        <p:spPr>
          <a:xfrm>
            <a:off x="514350" y="1890415"/>
            <a:ext cx="2460308" cy="851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Estados Unidos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14350" y="2936081"/>
            <a:ext cx="2343150" cy="1327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68"/>
              </a:lnSpc>
              <a:spcAft>
                <a:spcPts val="1013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Vagas em tecnologia e negócios</a:t>
            </a:r>
            <a:endParaRPr lang="en-US" sz="1013" dirty="0"/>
          </a:p>
          <a:p>
            <a:pPr algn="l" marL="342900" indent="-342900">
              <a:lnSpc>
                <a:spcPts val="1468"/>
              </a:lnSpc>
              <a:spcAft>
                <a:spcPts val="1013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Salários em USD</a:t>
            </a:r>
            <a:endParaRPr lang="en-US" sz="1013" dirty="0"/>
          </a:p>
          <a:p>
            <a:pPr algn="l" marL="342900" indent="-342900">
              <a:lnSpc>
                <a:spcPts val="1468"/>
              </a:lnSpc>
              <a:spcAft>
                <a:spcPts val="1013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Mercado de trabalho maduro</a:t>
            </a:r>
            <a:endParaRPr lang="en-US" sz="1013" dirty="0"/>
          </a:p>
          <a:p>
            <a:pPr algn="l" marL="342900" indent="-342900">
              <a:lnSpc>
                <a:spcPts val="1468"/>
              </a:lnSpc>
              <a:spcAft>
                <a:spcPts val="1013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Otimizado para buscas locais</a:t>
            </a:r>
            <a:endParaRPr lang="en-US" sz="1013" dirty="0"/>
          </a:p>
        </p:txBody>
      </p:sp>
      <p:pic>
        <p:nvPicPr>
          <p:cNvPr id="9" name="Image 0" descr="/tmp/h2p-fit-1785453502229-o314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946547"/>
            <a:ext cx="5200650" cy="3250406"/>
          </a:xfrm>
          <a:prstGeom prst="rect">
            <a:avLst/>
          </a:prstGeom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-857250"/>
            <a:ext cx="3571875" cy="357187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214938" y="3357563"/>
            <a:ext cx="2500313" cy="2500313"/>
          </a:xfrm>
          <a:prstGeom prst="ellipse">
            <a:avLst/>
          </a:prstGeom>
          <a:solidFill>
            <a:srgbClr val="10B981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0822" y="1262006"/>
            <a:ext cx="365269" cy="208026"/>
          </a:xfrm>
          <a:prstGeom prst="roundRect">
            <a:avLst>
              <a:gd name="adj" fmla="val 9157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273150"/>
            <a:ext cx="33821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630338"/>
            <a:ext cx="234315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925" dirty="0">
                <a:solidFill>
                  <a:srgbClr val="E8ECF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🇧🇷</a:t>
            </a:r>
            <a:endParaRPr lang="en-US" sz="2925" dirty="0"/>
          </a:p>
        </p:txBody>
      </p:sp>
      <p:sp>
        <p:nvSpPr>
          <p:cNvPr id="7" name="Text 5"/>
          <p:cNvSpPr/>
          <p:nvPr/>
        </p:nvSpPr>
        <p:spPr>
          <a:xfrm>
            <a:off x="514350" y="2087538"/>
            <a:ext cx="2999232" cy="42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Brasil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14350" y="2738958"/>
            <a:ext cx="2343150" cy="1327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68"/>
              </a:lnSpc>
              <a:spcAft>
                <a:spcPts val="1013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Vagas em Português do Brasil</a:t>
            </a:r>
            <a:endParaRPr lang="en-US" sz="1013" dirty="0"/>
          </a:p>
          <a:p>
            <a:pPr algn="l" marL="342900" indent="-342900">
              <a:lnSpc>
                <a:spcPts val="1468"/>
              </a:lnSpc>
              <a:spcAft>
                <a:spcPts val="1013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Setores: Tech, Saúde, Finanças</a:t>
            </a:r>
            <a:endParaRPr lang="en-US" sz="1013" dirty="0"/>
          </a:p>
          <a:p>
            <a:pPr algn="l" marL="342900" indent="-342900">
              <a:lnSpc>
                <a:spcPts val="1468"/>
              </a:lnSpc>
              <a:spcAft>
                <a:spcPts val="1013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SEO com palavras-chave locais</a:t>
            </a:r>
            <a:endParaRPr lang="en-US" sz="1013" dirty="0"/>
          </a:p>
          <a:p>
            <a:pPr algn="l" marL="342900" indent="-342900">
              <a:lnSpc>
                <a:spcPts val="1468"/>
              </a:lnSpc>
              <a:spcAft>
                <a:spcPts val="1013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Layout 100% responsivo</a:t>
            </a:r>
            <a:endParaRPr lang="en-US" sz="1013" dirty="0"/>
          </a:p>
        </p:txBody>
      </p:sp>
      <p:pic>
        <p:nvPicPr>
          <p:cNvPr id="9" name="Image 0" descr="/tmp/h2p-fit-1785453502113-m5j80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946547"/>
            <a:ext cx="5200650" cy="3250406"/>
          </a:xfrm>
          <a:prstGeom prst="rect">
            <a:avLst/>
          </a:prstGeom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71500" y="-857250"/>
            <a:ext cx="3571875" cy="357187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214938" y="3357563"/>
            <a:ext cx="2500313" cy="2500313"/>
          </a:xfrm>
          <a:prstGeom prst="ellipse">
            <a:avLst/>
          </a:prstGeom>
          <a:solidFill>
            <a:srgbClr val="10B981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0634" y="1168802"/>
            <a:ext cx="370332" cy="208026"/>
          </a:xfrm>
          <a:prstGeom prst="roundRect">
            <a:avLst>
              <a:gd name="adj" fmla="val 9157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179947"/>
            <a:ext cx="3429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537134"/>
            <a:ext cx="234315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925" dirty="0">
                <a:solidFill>
                  <a:srgbClr val="E8ECF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🇳🇬</a:t>
            </a:r>
            <a:endParaRPr lang="en-US" sz="2925" dirty="0"/>
          </a:p>
        </p:txBody>
      </p:sp>
      <p:sp>
        <p:nvSpPr>
          <p:cNvPr id="7" name="Text 5"/>
          <p:cNvSpPr/>
          <p:nvPr/>
        </p:nvSpPr>
        <p:spPr>
          <a:xfrm>
            <a:off x="514350" y="1994334"/>
            <a:ext cx="2999232" cy="42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Nigéria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14350" y="2645755"/>
            <a:ext cx="2343150" cy="1525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68"/>
              </a:lnSpc>
              <a:spcAft>
                <a:spcPts val="1013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Foco em emprego africano</a:t>
            </a:r>
            <a:endParaRPr lang="en-US" sz="1013" dirty="0"/>
          </a:p>
          <a:p>
            <a:pPr algn="l" marL="342900" indent="-342900">
              <a:lnSpc>
                <a:spcPts val="1468"/>
              </a:lnSpc>
              <a:spcAft>
                <a:spcPts val="1013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Mercado emergente prioritário</a:t>
            </a:r>
            <a:endParaRPr lang="en-US" sz="1013" dirty="0"/>
          </a:p>
          <a:p>
            <a:pPr algn="l" marL="342900" indent="-342900">
              <a:lnSpc>
                <a:spcPts val="1468"/>
              </a:lnSpc>
              <a:spcAft>
                <a:spcPts val="1013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Keywords em Inglês local</a:t>
            </a:r>
            <a:endParaRPr lang="en-US" sz="1013" dirty="0"/>
          </a:p>
          <a:p>
            <a:pPr algn="l" marL="342900" indent="-342900">
              <a:lnSpc>
                <a:spcPts val="1468"/>
              </a:lnSpc>
              <a:spcAft>
                <a:spcPts val="1013"/>
              </a:spcAft>
              <a:buSzPct val="100000"/>
              <a:buChar char="•"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Alvo do SEO Google para desemprego alto</a:t>
            </a:r>
            <a:endParaRPr lang="en-US" sz="1013" dirty="0"/>
          </a:p>
        </p:txBody>
      </p:sp>
      <p:pic>
        <p:nvPicPr>
          <p:cNvPr id="9" name="Image 0" descr="/tmp/h2p-fit-1785453502352-qubn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946547"/>
            <a:ext cx="5200650" cy="3250406"/>
          </a:xfrm>
          <a:prstGeom prst="rect">
            <a:avLst/>
          </a:prstGeom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125" y="-1428750"/>
            <a:ext cx="4286250" cy="428625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714375" y="4000500"/>
            <a:ext cx="2857500" cy="28575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1490" y="388906"/>
            <a:ext cx="884106" cy="208026"/>
          </a:xfrm>
          <a:prstGeom prst="roundRect">
            <a:avLst>
              <a:gd name="adj" fmla="val 9157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400050"/>
            <a:ext cx="8383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RESPONSIVO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657225"/>
            <a:ext cx="8629650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25" b="1" spc="-28" kern="0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Versão Mobile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514350" y="1085850"/>
            <a:ext cx="862965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Experiência otimizada para smartphones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517922" y="1482328"/>
            <a:ext cx="2564606" cy="3607594"/>
          </a:xfrm>
          <a:prstGeom prst="roundRect">
            <a:avLst>
              <a:gd name="adj" fmla="val 4457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tmp/h2p-fit-1785453502232-5zx48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219" y="1571625"/>
            <a:ext cx="2386013" cy="3429000"/>
          </a:xfrm>
          <a:prstGeom prst="rect">
            <a:avLst/>
          </a:prstGeom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</p:pic>
      <p:sp>
        <p:nvSpPr>
          <p:cNvPr id="10" name="Text 7"/>
          <p:cNvSpPr/>
          <p:nvPr/>
        </p:nvSpPr>
        <p:spPr>
          <a:xfrm>
            <a:off x="1621520" y="5193506"/>
            <a:ext cx="56453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Home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3289697" y="1482328"/>
            <a:ext cx="2564606" cy="3607594"/>
          </a:xfrm>
          <a:prstGeom prst="roundRect">
            <a:avLst>
              <a:gd name="adj" fmla="val 4457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tmp/h2p-fit-1785453502240-8w4a2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994" y="1571625"/>
            <a:ext cx="2386013" cy="3429000"/>
          </a:xfrm>
          <a:prstGeom prst="rect">
            <a:avLst/>
          </a:prstGeom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4421870" y="5193506"/>
            <a:ext cx="47423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Índia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6061472" y="1482328"/>
            <a:ext cx="2564606" cy="3607594"/>
          </a:xfrm>
          <a:prstGeom prst="roundRect">
            <a:avLst>
              <a:gd name="adj" fmla="val 4457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tmp/h2p-fit-1785453502240-u9m4o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769" y="1571625"/>
            <a:ext cx="2386013" cy="3429000"/>
          </a:xfrm>
          <a:prstGeom prst="rect">
            <a:avLst/>
          </a:prstGeom>
          <a:effectLst>
            <a:outerShdw sx="100000" sy="100000" kx="0" ky="0" algn="bl" rotWithShape="0" blurRad="304800" dist="76200" dir="5400000">
              <a:srgbClr val="000000">
                <a:alpha val="40000"/>
              </a:srgbClr>
            </a:outerShdw>
          </a:effectLst>
        </p:spPr>
      </p:pic>
      <p:sp>
        <p:nvSpPr>
          <p:cNvPr id="16" name="Text 11"/>
          <p:cNvSpPr/>
          <p:nvPr/>
        </p:nvSpPr>
        <p:spPr>
          <a:xfrm>
            <a:off x="7127019" y="5193506"/>
            <a:ext cx="53358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Brasil</a:t>
            </a:r>
            <a:endParaRPr lang="en-US" sz="101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86063" y="-1285875"/>
            <a:ext cx="3571875" cy="3571875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72375" y="3857625"/>
            <a:ext cx="2143125" cy="2143125"/>
          </a:xfrm>
          <a:prstGeom prst="ellipse">
            <a:avLst/>
          </a:prstGeom>
          <a:solidFill>
            <a:srgbClr val="10B981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1490" y="388906"/>
            <a:ext cx="888683" cy="208026"/>
          </a:xfrm>
          <a:prstGeom prst="roundRect">
            <a:avLst>
              <a:gd name="adj" fmla="val 9157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400050"/>
            <a:ext cx="8429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TECNOLOGIA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671513"/>
            <a:ext cx="862965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25" b="1" spc="-28" kern="0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Infraestrutura SEO &amp; Técnica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646509" y="1719523"/>
            <a:ext cx="2516944" cy="980815"/>
          </a:xfrm>
          <a:prstGeom prst="roundRect">
            <a:avLst>
              <a:gd name="adj" fmla="val 11654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1531" y="1923120"/>
            <a:ext cx="2166900" cy="406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200+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21531" y="2357438"/>
            <a:ext cx="2166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URLs no Sitemap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3313472" y="1719523"/>
            <a:ext cx="2516944" cy="980815"/>
          </a:xfrm>
          <a:prstGeom prst="roundRect">
            <a:avLst>
              <a:gd name="adj" fmla="val 11654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8494" y="1923120"/>
            <a:ext cx="2166900" cy="406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488494" y="2357438"/>
            <a:ext cx="2166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Países com Metadata Única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5980435" y="1719523"/>
            <a:ext cx="2517056" cy="980815"/>
          </a:xfrm>
          <a:prstGeom prst="roundRect">
            <a:avLst>
              <a:gd name="adj" fmla="val 11654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55457" y="1923120"/>
            <a:ext cx="2167012" cy="406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180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155457" y="2357438"/>
            <a:ext cx="216701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Páginas Setor-País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646509" y="2850356"/>
            <a:ext cx="2516944" cy="980815"/>
          </a:xfrm>
          <a:prstGeom prst="roundRect">
            <a:avLst>
              <a:gd name="adj" fmla="val 11654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1531" y="3053953"/>
            <a:ext cx="2166900" cy="406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30+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21531" y="3488271"/>
            <a:ext cx="2166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Variantes Hreflang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3313472" y="2850356"/>
            <a:ext cx="2516944" cy="980815"/>
          </a:xfrm>
          <a:prstGeom prst="roundRect">
            <a:avLst>
              <a:gd name="adj" fmla="val 11654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88494" y="3053953"/>
            <a:ext cx="2166900" cy="406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3488494" y="3488271"/>
            <a:ext cx="2166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Tipos de JSON-LD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5980435" y="2850356"/>
            <a:ext cx="2517056" cy="980815"/>
          </a:xfrm>
          <a:prstGeom prst="roundRect">
            <a:avLst>
              <a:gd name="adj" fmla="val 11654"/>
            </a:avLst>
          </a:prstGeom>
          <a:solidFill>
            <a:srgbClr val="111827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55457" y="3053953"/>
            <a:ext cx="2167012" cy="406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155457" y="3488271"/>
            <a:ext cx="2253692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Robots de Busca Configurados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718617" y="4452042"/>
            <a:ext cx="833028" cy="304209"/>
          </a:xfrm>
          <a:prstGeom prst="roundRect">
            <a:avLst>
              <a:gd name="adj" fmla="val 25049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8617" y="4464844"/>
            <a:ext cx="83302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Jobs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37370" y="4452042"/>
            <a:ext cx="1083059" cy="304209"/>
          </a:xfrm>
          <a:prstGeom prst="roundRect">
            <a:avLst>
              <a:gd name="adj" fmla="val 25049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637370" y="4464844"/>
            <a:ext cx="108305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Sitemap Dinâmico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806154" y="4452042"/>
            <a:ext cx="655104" cy="304209"/>
          </a:xfrm>
          <a:prstGeom prst="roundRect">
            <a:avLst>
              <a:gd name="adj" fmla="val 25049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806154" y="4464844"/>
            <a:ext cx="65510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robots.ts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46983" y="4452042"/>
            <a:ext cx="821978" cy="304209"/>
          </a:xfrm>
          <a:prstGeom prst="roundRect">
            <a:avLst>
              <a:gd name="adj" fmla="val 25049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546983" y="4464844"/>
            <a:ext cx="82197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Graph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54686" y="4452042"/>
            <a:ext cx="860599" cy="304209"/>
          </a:xfrm>
          <a:prstGeom prst="roundRect">
            <a:avLst>
              <a:gd name="adj" fmla="val 25049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454686" y="4464844"/>
            <a:ext cx="86059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Twitter Cards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01010" y="4452042"/>
            <a:ext cx="866291" cy="304209"/>
          </a:xfrm>
          <a:prstGeom prst="roundRect">
            <a:avLst>
              <a:gd name="adj" fmla="val 25049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401010" y="4464844"/>
            <a:ext cx="86629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Breadcrumbs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53026" y="4452042"/>
            <a:ext cx="944203" cy="304209"/>
          </a:xfrm>
          <a:prstGeom prst="roundRect">
            <a:avLst>
              <a:gd name="adj" fmla="val 25049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53026" y="4464844"/>
            <a:ext cx="94420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CollectionPage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82954" y="4452042"/>
            <a:ext cx="1042318" cy="304209"/>
          </a:xfrm>
          <a:prstGeom prst="roundRect">
            <a:avLst>
              <a:gd name="adj" fmla="val 25049"/>
            </a:avLst>
          </a:prstGeom>
          <a:solidFill>
            <a:srgbClr val="3B82F6">
              <a:alpha val="12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382954" y="4464844"/>
            <a:ext cx="104231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WebSite Schema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71688" y="71438"/>
            <a:ext cx="5000625" cy="5000625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3714750"/>
            <a:ext cx="2143125" cy="2143125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1490" y="388906"/>
            <a:ext cx="738664" cy="208026"/>
          </a:xfrm>
          <a:prstGeom prst="roundRect">
            <a:avLst>
              <a:gd name="adj" fmla="val 9157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400050"/>
            <a:ext cx="6929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700088"/>
            <a:ext cx="8521065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28" kern="0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Próximos Passos</a:t>
            </a:r>
            <a:endParaRPr lang="en-US" sz="2475" dirty="0"/>
          </a:p>
        </p:txBody>
      </p:sp>
      <p:sp>
        <p:nvSpPr>
          <p:cNvPr id="7" name="Shape 5"/>
          <p:cNvSpPr/>
          <p:nvPr/>
        </p:nvSpPr>
        <p:spPr>
          <a:xfrm>
            <a:off x="514350" y="2336006"/>
            <a:ext cx="64293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350" y="1732359"/>
            <a:ext cx="5143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B82F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200150" y="1732359"/>
            <a:ext cx="1924694" cy="236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Publicar na Internet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1200150" y="1996678"/>
            <a:ext cx="197968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 na Vercel + domínio ww.jobs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4350" y="3086100"/>
            <a:ext cx="64293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50" y="2482453"/>
            <a:ext cx="5143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B82F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200150" y="2482453"/>
            <a:ext cx="2040268" cy="236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Painel Admin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1200150" y="2746772"/>
            <a:ext cx="188011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Gerenciar vagas, países e setores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4350" y="3836194"/>
            <a:ext cx="64293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350" y="3232547"/>
            <a:ext cx="5143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B82F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200150" y="3232547"/>
            <a:ext cx="3075502" cy="236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Busca Automática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1200150" y="3496866"/>
            <a:ext cx="292904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de raspar vagas de sites reais por cidade/estado/país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5740" y="3982641"/>
            <a:ext cx="8229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B82F6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200150" y="3982641"/>
            <a:ext cx="3249078" cy="236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E8ECF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PayPal Checkout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1200150" y="4246959"/>
            <a:ext cx="309436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Pagamento automático com liberação instantânea de acesso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62864" y="4657725"/>
            <a:ext cx="141816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56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W-W — World of Work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2026-07-30T23:18:26Z</dcterms:created>
  <dcterms:modified xsi:type="dcterms:W3CDTF">2026-07-30T23:18:26Z</dcterms:modified>
</cp:coreProperties>
</file>